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各位评委好，今天介绍的项目叫 Albassist，是一款面向白化病低视力中小学生的 AI 助视学习终端。它的核心思路很简单：先把课本原图放大给学生看，再用本地 AI 把选中的文字转成可调字号的大字阅读版，并且始终保持和原图位置对应。我们已经在 PC 上完成了完整的软件闭环，下一步将部署到成本约 200 元的嵌入式硬件上。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调研发现，低视力学生阅读课本时面临四重困境：看不清、找不着、改不了、信不过。看不清是因为普通放大只是像素拉伸，细节并没有增加；找不着是因为高倍放大后视野太小，学生很容易在书页中迷路；改不了是因为扫描件是图片，不能像数字文本那样调整字号行距；最关键的是信不过——AI 识别可能出错，但现有工具不会提醒学生核对。这四重困境叠加，导致学生很难独立完成阅读任务。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我们的解决方案分两层：软件闭环已经在 PC 上完整跑通——从相机采集、视觉增强、框选段落、本地 OCR，到大字阅读版和原图回查导航，形成完整阅读循环。硬件终端的目标是把这套软件搬到一台成本约 200 元的嵌入式设备上：香橙派 Zero3W 做主控和 AI 推理，CSI 摄像头采集课本，ESP32-S3 负责语音子系统。我们坚持五条设计原则：视觉优先、原图不可变、AI 有边界、低操作负担、全离线。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产品有两个主视图。左边是原图视图，学生可以把课本放大到 8 倍，还能切换 8 种视觉模式来适应自己的视力条件，比如反色、高对比度、CLAHE 局部增强。右边是大字阅读视图，OCR 识别后的文字会按阅读顺序重排，字号和行距都可以自由调整，段落之间用方向键切换，每切一段都会在原图上高亮对应位置。整个阅读循环全键盘完成：按 F 冻结画面、鼠标框选一段、按 R 识别、上下键翻段、按 O 切回原图核对。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技术架构采用严格的分层设计，从上到下依次是表现层、应用层、领域层、视觉与OCR运行时、基础设施层。最核心的设计是：Domain 层零外部依赖，是纯数据模型和业务规则，可以原样移植到香橙派的 Linux 上；Application 层定义端口接口但不引用任何具体实现，所以替换摄像头、显示或语音模块时不需要改动核心逻辑。依赖方向严格单向，由 import-linter 三条架构契约自动守护。底部虚线框是嵌入式适配层，只需要重写适配器就能在硬件终端上运行。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硬件方案我们追求的是低成本和可复现。主控用香橙派 Zero3W，一片约 100 元，跑 Linux、OpenCV 和 ONNX Runtime 完全够用。摄像头用 CSI 接口的 77 度广角 OV5647，低延迟且适合桌面阅读距离。语音部分由独立的 ESP32-S3 负责，接 INMP441 数字麦克风和 2415 小喇叭，这样主控不用操心实时语音处理。整套 BOM 加起来大约 180 到 250 元，相比传统助视设备两三千元的价格，具备大规模推广的条件。所有设计资料都会开源。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引擎我们选的是 RapidOCR 的 PP-OCRv4 ONNX 版本，完全本地运行，零网络请求，中英文混排都能识别，而且每个文字块都保留原图坐标，支持定位回查。ONNX Runtime 已经支持 ARM64，可以直接部署到香橙派上。更重要的是我们设计了过期结果保护机制：用 SessionId、FrameId、RequestId、FrameRevision 四元组标识每次识别结果，学生换了新材料或者重新冻结画面后，旧的识别结果会自动失效，不会把旧文字套到新图上。推理层面用单并发队列、可取消、失败保留原图，保证学生体验流畅。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工程质量上我们做到了四个数字：mypy strict 模式下 57 个源文件零类型错误；import-linter 三条分层契约守护架构边界，防止依赖方向错乱；pytest 88 项通过、15 项跳过，覆盖了状态机、过期结果保护、文本重排、OCR 适配器等核心逻辑；ruff 统一代码风格。这种严格的工程实践保证了代码可以从 PC 平滑移植到嵌入式 Linux，因为 Domain 层完全纯净，Application 层端口隔离。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因为服务对象是未成年人，隐私和可信设计我们放在了最高优先级。七条原则：本地优先、不存敏感数据、原图不可变、未核对标记、非生成式、主动护眼、全链路离线。特别强调两点：第一，SQLite 里只存学生的视觉偏好，比如喜欢的字号和配色，绝不存图像、OCR 正文或阅读历史；第二，所有 OCR 结果都会标注"识别结果，未核对"，提醒学生切回原图检查，因为 AI 可能出错，我们不能让学生盲信。夜间模式只做亮度对比度映射，绝不生成或补全内容，避免制造虚假笔画。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这张对比表很关键。传统助视放大镜只能放大，没有OCR和大字重排；通用OCR App大多需要联网，而且识别完就丢了，不知道文字对应原图哪里，也不会提醒你核对。Albassist在八个维度上形成差异化：纯本地离线、每段文字可回查原图坐标、字号行距配色全可调、明确标注"未核对"防止误信、全键盘闭环低操作负担、零上传保护隐私、硬件成本只要200元左右、语音也在本地跑。翠鸟等产品已经有放大滤镜和OCR，我们的价值不是再做一套滤镜，而是原图对应的大字阅读闭环和低成本嵌入式终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我们的路线图分七个里程碑。M0 到 M2 已经完成：模型可行性验证、原图助视基线、AI 阅读闭环都跑通了。M3 验证与改善正在进行中，我们在建立固定测试集和性能记录。接下来 M4 做香橙派硬件适配和 CSI 摄像头接入，M5 做 ESP32-S3 语音子系统，M6 做整机集成。已经交付的包括：可独立运行的 Windows 桌面应用、完整的分层架构、88 项单元测试加 mypy strict 零错误、以及完整的硬件 BOM 和接口定义。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 分钟演示分七步：第一步导入课本照片，快速切换 8 种视觉模式展示"看见"；第二步按 F 冻结、框选、按 R 识别；第三步自动切到大字阅读版，调字号行距翻段展示"读懂"；第四步按 O 回查原图高亮对应位置；第五步指出"未核对"标注；第六步拔掉网线证明纯离线；第七步展示硬件 BOM，总成本 200 元以内。核心话术是：这不是滤镜，这是让低视力学生能独立读完一段课本的闭环，PC 上跑通的每一行代码都能原样迁移到 100 元的香橙派上。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团队覆盖产品调研、软件开发、硬件工程和测试四个方向。下一步分三个时间节点：两周内完成 M3 固定测试集性能验证和香橙派系统镜像烧录；一个月内完成 CSI 摄像头接入、ESP32-S3 语音联调和整机外壳原型；三个月内完成近眼显示适配、遮光罩支架设计和真实用户试用。整个项目从第一天就坚持开源：代码 Apache-2.0，模型用 PP-OCRv4 ONNX，硬件 BOM、接线图、外壳图纸全部开放，架构文档和 PRD 完整可复现。我们的目标是：让低视力学生用 200 元的终端，独立读完一段课本。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谢谢各位。Albassist 的目标很朴素：让白化病低视力的中小学生，用一台成本 200 元左右的离线终端，不需要旁人持续协助，就能独立读完课本上的一段文字。我们已经在 PC 上跑通了完整的软件闭环，接下来会把它移植到香橙派嵌入式硬件上。代码和硬件设计全部开源，欢迎各位老师和评委交流指导。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43C6E">
                <a:alpha val="100000"/>
              </a:srgbClr>
            </a:gs>
            <a:gs pos="100000">
              <a:srgbClr val="1E6FB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889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5A62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ASSISTIVE READING TERMINAL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33500"/>
            <a:ext cx="609600" cy="38100"/>
          </a:xfrm>
          <a:prstGeom prst="roundRect">
            <a:avLst>
              <a:gd name="adj" fmla="val 0"/>
            </a:avLst>
          </a:prstGeom>
          <a:solidFill>
            <a:srgbClr val="F5A62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1778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Albassist-15</a:t>
            </a:r>
            <a:r>
              <a:rPr lang="zh-CN" altLang="en-US" sz="6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号</a:t>
            </a:r>
            <a:r>
              <a:rPr lang="en-US" altLang="zh-CN" sz="6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6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包赢队</a:t>
            </a:r>
            <a:endParaRPr lang="zh-CN" altLang="en-US" sz="6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016000" y="304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助视</a:t>
            </a:r>
            <a:r>
              <a:rPr lang="zh-CN" altLang="en-US" sz="28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眼镜</a:t>
            </a:r>
            <a:r>
              <a:rPr lang="en-US" sz="28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学习终端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873500"/>
            <a:ext cx="914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把课本原图放大呈现，并用本地 AI 将选中文字转换成可调字号的大字阅读版，保持与原图位置对应。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016000" y="5397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目标用户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白化病低视力中小学生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4572000" y="5397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使用场景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室内课本 / 讲义 / 作业阅读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8128000" y="5397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产品形态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 原型 → 嵌入式终端部署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10323850" y="7402931"/>
            <a:ext cx="1422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algn="l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8491824" y="7170702"/>
            <a:ext cx="1422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algn="l">
              <a:defRPr/>
            </a:pPr>
          </a:p>
        </p:txBody>
      </p:sp>
      <p:sp>
        <p:nvSpPr>
          <p:cNvPr id="13" name="AutoShape 6"/>
          <p:cNvSpPr txBox="1"/>
          <p:nvPr/>
        </p:nvSpPr>
        <p:spPr>
          <a:xfrm>
            <a:off x="5213350" y="3327400"/>
            <a:ext cx="526161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zh-CN" altLang="en-US" sz="15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团队成员：田媛、刘宏彬、邹展彤</a:t>
            </a:r>
            <a:endParaRPr lang="zh-CN" altLang="en-US" sz="1500" b="0" i="0" u="none" strike="noStrike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zh-CN" altLang="en-US" sz="1500" b="0" i="0" u="none" strike="noStrike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PROBLEM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990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低视力学生阅读的四重困境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708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2032000"/>
          <a:ext cx="10160000" cy="330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381500"/>
                <a:gridCol w="43815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困境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6FB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具体表现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6FB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现有方案的不足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6FBA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看不清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常规配镜后仍难辨认课本印刷文字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普通放大仅做像素拉伸，细节不增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找不着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高倍放大后视野缩小，换行丢行、找不到下一段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缺乏全局定位与段落导航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改不了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扫描的图片不能像数字文本一样调字号、行距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 OCR 工具离线能力差、无原图对应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E74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信不过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识别出错时，学生难以发现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多数工具不标注"未核对"、不保留原图回查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5778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白化病儿童畏光、眼震、头位各异——不能用一个统一方案套所有人。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SOLUTION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990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PC 原型到嵌入式终端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708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32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软件闭环（当前已实现）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4826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E6FB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270000" y="2667000"/>
            <a:ext cx="4318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选择输入（相机 / 图片）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实时预览 + 原图视觉增强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冻结画面 → 框选段落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本地 AI OCR 识别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大字阅读版（可调字号 / 行距 / 配色）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上一段 / 下一段导航 ↔ 原图回查定位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350000" y="2032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硬件终端（目标部署）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476500"/>
            <a:ext cx="4826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7AE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6604000" y="2667000"/>
            <a:ext cx="4318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CSI 77° 摄像头（课本近距采集）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香橙派 Zero3W（本地 ONNX 推理 + 图像处理）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便携屏 / 近眼显示（大字阅读输出）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ESP32-S3 + INMP441 + 2415 扬声器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（语音朗读与提醒）</a:t>
            </a:r>
            <a:endParaRPr lang="en-US" sz="1200" b="0" i="0" u="none" strike="noStrike">
              <a:solidFill>
                <a:srgbClr val="8888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1016000" y="508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核心设计原则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5397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视觉优先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先帮学生"看见"，再谈其他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3149600" y="5397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原图不可变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增强在副本执行，原图始终可回查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5283200" y="5397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有边界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OCR 结果标注"未核对"，不自动答题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416800" y="5397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低操作负担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全键盘完成阅读循环，无需旁人协助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9550400" y="53975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全离线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零网络依赖，模型随包分发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CORE FEATURES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990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两大主视图：从看见到读懂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708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4881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159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原图视图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603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先帮学生"看清"课本上的原始内容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11500"/>
            <a:ext cx="4572000" cy="2540000"/>
          </a:xfrm>
          <a:prstGeom prst="roundRect">
            <a:avLst>
              <a:gd name="adj" fmla="val 0"/>
            </a:avLst>
          </a:prstGeom>
          <a:solidFill>
            <a:srgbClr val="F7F9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270000" y="3302000"/>
            <a:ext cx="406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1×—8×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Lanczos 数字缩放，可移动选区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 种视觉模式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：原色 / 灰度 / 反色 / 对比度 / 二值化 / CLAHE / 边缘 / 护眼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全局导航小窗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：缩放 &gt;2× 时显示缩略图与选区位置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冻结 / 解冻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（F 键），鼠标框选目标段落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5842000" y="3683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604000" y="2159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大字阅读视图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604000" y="2603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再帮学生"读懂"重排后的大字文本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111500"/>
            <a:ext cx="4572000" cy="2540000"/>
          </a:xfrm>
          <a:prstGeom prst="roundRect">
            <a:avLst>
              <a:gd name="adj" fmla="val 0"/>
            </a:avLst>
          </a:prstGeom>
          <a:solidFill>
            <a:srgbClr val="FFF8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858000" y="3302000"/>
            <a:ext cx="406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3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字号 24—96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逻辑像素，行距 1.2—2.0 可调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按阅读顺序重排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，中文 / 英文正常换行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上一段 / 下一段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（↑/↓ 键），自动高亮原图对应区域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一键切回原图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（O 键），核对 OCR 结果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全键盘操作闭环：F 冻结 → 框选 → R 识别 → ↑↓ 翻段 → O 回查原图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ARCHITECTURE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分层清晰，硬件无关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524000" y="1778000"/>
            <a:ext cx="9144000" cy="533400"/>
          </a:xfrm>
          <a:prstGeom prst="roundRect">
            <a:avLst>
              <a:gd name="adj" fmla="val 0"/>
            </a:avLst>
          </a:prstGeom>
          <a:solidFill>
            <a:srgbClr val="1E6F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778000" y="1778000"/>
            <a:ext cx="508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Presentation · PySide6 / MVVM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112000" y="1778000"/>
            <a:ext cx="3302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原图视图 / 大字阅读视图 / 键盘路由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387600"/>
            <a:ext cx="9144000" cy="533400"/>
          </a:xfrm>
          <a:prstGeom prst="roundRect">
            <a:avLst>
              <a:gd name="adj" fmla="val 0"/>
            </a:avLst>
          </a:prstGeom>
          <a:solidFill>
            <a:srgbClr val="3487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778000" y="2387600"/>
            <a:ext cx="508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Application · 用例编排 / 状态机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112000" y="2387600"/>
            <a:ext cx="3302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会话管理 / 识别编排 / 文本重排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2997200"/>
            <a:ext cx="9144000" cy="533400"/>
          </a:xfrm>
          <a:prstGeom prst="roundRect">
            <a:avLst>
              <a:gd name="adj" fmla="val 0"/>
            </a:avLst>
          </a:prstGeom>
          <a:solidFill>
            <a:srgbClr val="509B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1778000" y="2997200"/>
            <a:ext cx="508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Domain · 纯数据模型 / 规则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112000" y="2997200"/>
            <a:ext cx="3302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ImageFrame / OcrBlock / ReadingDocument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606800"/>
            <a:ext cx="4445000" cy="533400"/>
          </a:xfrm>
          <a:prstGeom prst="roundRect">
            <a:avLst>
              <a:gd name="adj" fmla="val 0"/>
            </a:avLst>
          </a:prstGeom>
          <a:solidFill>
            <a:srgbClr val="27AE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1778000" y="3606800"/>
            <a:ext cx="393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Vision · OpenCV 图像处理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606800"/>
            <a:ext cx="4445000" cy="533400"/>
          </a:xfrm>
          <a:prstGeom prst="roundRect">
            <a:avLst>
              <a:gd name="adj" fmla="val 0"/>
            </a:avLst>
          </a:prstGeom>
          <a:solidFill>
            <a:srgbClr val="27AE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477000" y="3606800"/>
            <a:ext cx="393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OCR Runtime · RapidOCR ONNX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4216400"/>
            <a:ext cx="9144000" cy="533400"/>
          </a:xfrm>
          <a:prstGeom prst="roundRect">
            <a:avLst>
              <a:gd name="adj" fmla="val 0"/>
            </a:avLst>
          </a:prstGeom>
          <a:solidFill>
            <a:srgbClr val="3C82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1778000" y="4216400"/>
            <a:ext cx="508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Infrastructure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334000" y="4216400"/>
            <a:ext cx="508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相机采集 / SQLite / TTS / 线程基础设施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5588000" y="48514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可迁移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207000"/>
            <a:ext cx="91440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7AE60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1778000" y="5207000"/>
            <a:ext cx="889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嵌入式适配</a:t>
            </a:r>
            <a:r>
              <a:rPr lang="en-US" sz="1200" b="0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：CSI 摄像头 / 香橙派 GPIO · 语音子系统：ESP32-S3 / INMP441 / 2415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016000" y="596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关键约束：domain 零外部依赖可原样移植到嵌入式 Linux · application 禁止引用适配器实现 · 依赖方向严格单向 app → presentation → application → domain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· HARDWARE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低成本、全离线、可复现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636000" y="88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BOM ≈ ¥180–250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1714500"/>
          <a:ext cx="10160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524000"/>
                <a:gridCol w="2540000"/>
                <a:gridCol w="2286000"/>
                <a:gridCol w="2794000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AE6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AE6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AE6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职责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AE6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选型理由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AE60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香橙派 Zero3W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Allwinner H618 四核 / 1–4GB RAM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Linux + OpenCV + ONNX 推理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成本约 ¥100，社区成熟，支持 CSI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摄像头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CSI 77° 广角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OV5647 / 500 万像素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近距课本 / 讲义图像采集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CSI 低延迟，77° 适合桌面阅读距离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语音 MCU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ESP32-S3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Xtensa LX7 双核 / WiFi+BT5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麦克风采集 / TTS 播报 / 唤醒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独立语音子系统，低功耗待机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麦克风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INMP441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MEMS 数字麦克风 / I2S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环境音采集、语音唤醒输入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小体积，I2S 直连 ESP32-S3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扬声器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2415 腔体喇叭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8Ω 1W / 24×15mm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TTS 朗读输出、提醒播报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功率匹配 ESP32-S3，体积小适合便携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016000" y="5778500"/>
            <a:ext cx="10160000" cy="635000"/>
          </a:xfrm>
          <a:prstGeom prst="roundRect">
            <a:avLst>
              <a:gd name="adj" fmla="val 0"/>
            </a:avLst>
          </a:prstGeom>
          <a:solidFill>
            <a:srgbClr val="27AE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270000" y="5778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成本估算</a:t>
            </a:r>
            <a:r>
              <a:rPr lang="en-US" sz="1300" b="0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：主控 + CSI + ESP32-S3 + 麦克风 + 扬声器 ≈ ¥180–250，具备大规模推广可行性。BOM 清单、接线图、外壳图纸将全部开源。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· AI ENGINE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本地离线，结果可校验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778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RapidOCR · PP-OCRv4 ONNX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286000"/>
            <a:ext cx="5080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75000"/>
              </a:lnSpc>
              <a:defRPr/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纯离线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零网络请求，模型随包分发</a:t>
            </a:r>
            <a:endParaRPr lang="en-US" sz="1100"/>
          </a:p>
          <a:p>
            <a:pPr marL="0" indent="0" algn="l">
              <a:lnSpc>
                <a:spcPct val="175000"/>
              </a:lnSpc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中英双语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中文 / 英文 / 混排印刷文字识别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75000"/>
              </a:lnSpc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轻量快速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仅依赖 onnxruntime，无 Paddle 框架负担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75000"/>
              </a:lnSpc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坐标可溯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每个文字块保留原图坐标，支持定位回查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75000"/>
              </a:lnSpc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 适配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ONNX Runtime 支持 ARM64，可直接部署香橙派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604000" y="1778000"/>
            <a:ext cx="457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74C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6858000" y="1968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过期结果保护机制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858000" y="23495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SessionId + FrameId + RequestId + FrameRevision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识别结果提交前必须校验四元组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新材料 / 重新冻结后旧结果自动丢弃</a:t>
            </a:r>
            <a:endParaRPr lang="en-US" sz="11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604000" y="3683000"/>
            <a:ext cx="457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E6FB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858000" y="3873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推理约束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858000" y="4254500"/>
            <a:ext cx="406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单并发队列（容量 2），满则丢弃最旧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可取消：UI 取消立即恢复，不等原生推理完成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失败时保留原图，提示具体恢复动作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设计原则：AI 有边界——识别结果标注"未核对"，不自动润色 / 补字 / 答题。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· ENGINEERING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类型安全 + 架构守护 + 测试覆盖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730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mypy strict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57 源文件，零类型错误</a:t>
            </a:r>
            <a:endParaRPr lang="en-US" sz="1200" b="0" i="0" u="none" strike="noStrike">
              <a:solidFill>
                <a:srgbClr val="646E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3683000" y="190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683000" y="2730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import-linter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分层契约守护架构边界</a:t>
            </a:r>
            <a:endParaRPr lang="en-US" sz="1200" b="0" i="0" u="none" strike="noStrike">
              <a:solidFill>
                <a:srgbClr val="646E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350000" y="190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88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350000" y="2730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pytest 通过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skipped，覆盖核心逻辑</a:t>
            </a:r>
            <a:endParaRPr lang="en-US" sz="1200" b="0" i="0" u="none" strike="noStrike">
              <a:solidFill>
                <a:srgbClr val="646E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9017000" y="190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9017000" y="2730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ruff line-length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代码风格统一，CI 全绿</a:t>
            </a:r>
            <a:endParaRPr lang="en-US" sz="1200" b="0" i="0" u="none" strike="noStrike">
              <a:solidFill>
                <a:srgbClr val="646E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3613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3873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关键单元测试覆盖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4381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会话状态机：6 状态非法迁移抛异常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过期结果：四元组不匹配 → 结果被拒绝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350000" y="4381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文本重排：按几何坐标排序，跨栏 / 错序可测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OCR 引擎：模型加载、资源释放、空 ROI 边界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1016000" y="603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分层架构的设计收益：Domain 层零外部依赖可原样移植；Application 层端口隔离，替换 CSI 摄像头或 ESP32 语音只需重写适配器。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· PRIVACY &amp; TRUST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隐私与可信设计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841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本地优先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197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OCR 使用本地 ONNX 模型，零网络请求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016000" y="2857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不存敏感数据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3213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 仅存视觉偏好，不存图像、OCR 正文、阅读历史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046">
            <a:off x="1016008" y="367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3873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原图不可变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4229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所有视觉增强在副本执行，原图始终保留供回查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046">
            <a:off x="1016008" y="4692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4889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未核对标记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5245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OCR 结果默认标注"识别结果，未核对"，提醒回查原图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50000" y="1841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非生成式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50000" y="2197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夜间模式仅做亮度 / 对比度映射，不生成或补全内容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046">
            <a:off x="63500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6350000" y="2857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主动护眼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350000" y="3213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20-20-20 法则定时提醒，数字护眼模式降低蓝光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046">
            <a:off x="6350008" y="367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6350000" y="3873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全链路离线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350000" y="4229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从摄像头采集到 OCR 推理到 TTS 播报，全程不依赖云端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6350000" y="5080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1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面向未成年人的助视工具，隐私和可信是底线，不是卖点。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· COMPETITION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我们不是"再做一套滤镜"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1714500"/>
          <a:ext cx="10160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2540000"/>
                <a:gridCol w="2794000"/>
                <a:gridCol w="3429000"/>
              </a:tblGrid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46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传统助视放大镜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46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通用 OCR App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465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Albassist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6FBA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离线能力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无需网络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多数需联网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纯本地 ONNX，断网可用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C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原图对应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通常无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每段文字可定位回原图坐标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C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大字重排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简单文本框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可调字号 / 行距 / 配色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C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未核对提示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D4881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明确标注"未核对"，防误信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0DC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低操作负担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需持续手持 / 移动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多步骤触屏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全键盘闭环 F→框选→R→↑↓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C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隐私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不涉及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常上传云端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零上传，不存阅读内容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C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硬件成本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专用设备 ¥2000+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依赖手机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嵌入式方案 ¥180–250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C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语音朗读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46E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云端 TTS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E6F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本地 ESP32-S3 + 离线语音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差异化价值：开放可复现、原图对应的大字阅读与低操作负担，以及低成本的嵌入式全离线终端。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· ROADMAP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 验证 → 硬件落地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" name="Connector 5"/>
          <p:cNvCxnSpPr/>
          <p:nvPr/>
        </p:nvCxnSpPr>
        <p:spPr>
          <a:xfrm rot="-4523">
            <a:off x="1270004" y="25336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168400" y="2438400"/>
            <a:ext cx="203200" cy="203200"/>
          </a:xfrm>
          <a:prstGeom prst="ellipse">
            <a:avLst/>
          </a:prstGeom>
          <a:solidFill>
            <a:srgbClr val="1E6F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571500" y="19050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M0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715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设备与模型可行性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实拍段落，验证离线 OCR</a:t>
            </a:r>
            <a:endParaRPr lang="en-US" sz="10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000" b="0" i="0" u="none" strike="noStrike">
              <a:solidFill>
                <a:srgbClr val="1E6FB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781300" y="2438400"/>
            <a:ext cx="203200" cy="203200"/>
          </a:xfrm>
          <a:prstGeom prst="ellipse">
            <a:avLst/>
          </a:prstGeom>
          <a:solidFill>
            <a:srgbClr val="1E6F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2184400" y="19050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1844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原图助视基线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预览 / 冻结 / 放大 / 视觉模式</a:t>
            </a:r>
            <a:endParaRPr lang="en-US" sz="10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000" b="0" i="0" u="none" strike="noStrike">
              <a:solidFill>
                <a:srgbClr val="1E6FB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81500" y="2438400"/>
            <a:ext cx="203200" cy="203200"/>
          </a:xfrm>
          <a:prstGeom prst="ellipse">
            <a:avLst/>
          </a:prstGeom>
          <a:solidFill>
            <a:srgbClr val="1E6F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3784600" y="19050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37846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阅读闭环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 → 重排 → 定位 → 回查</a:t>
            </a:r>
            <a:endParaRPr lang="en-US" sz="10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000" b="0" i="0" u="none" strike="noStrike">
              <a:solidFill>
                <a:srgbClr val="1E6FB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956300" y="2400300"/>
            <a:ext cx="279400" cy="279400"/>
          </a:xfrm>
          <a:prstGeom prst="ellipse">
            <a:avLst/>
          </a:prstGeom>
          <a:solidFill>
            <a:srgbClr val="D488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5397500" y="19050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M3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53975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验证与改善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固定测试集、性能记录</a:t>
            </a:r>
            <a:endParaRPr lang="en-US" sz="10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进行中</a:t>
            </a:r>
            <a:endParaRPr lang="en-US" sz="1000" b="0" i="0" u="none" strike="noStrike">
              <a:solidFill>
                <a:srgbClr val="D488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07300" y="2438400"/>
            <a:ext cx="203200" cy="203200"/>
          </a:xfrm>
          <a:prstGeom prst="ellipse">
            <a:avLst/>
          </a:prstGeom>
          <a:solidFill>
            <a:srgbClr val="B4BE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7010400" y="19050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28C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0104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硬件适配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香橙派移植、CSI 接入</a:t>
            </a:r>
            <a:endParaRPr lang="en-US" sz="1000" b="0" i="0" u="none" strike="noStrike">
              <a:solidFill>
                <a:srgbClr val="646E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828C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待启动</a:t>
            </a:r>
            <a:endParaRPr lang="en-US" sz="1000" b="0" i="0" u="none" strike="noStrike">
              <a:solidFill>
                <a:srgbClr val="828C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207500" y="2438400"/>
            <a:ext cx="203200" cy="203200"/>
          </a:xfrm>
          <a:prstGeom prst="ellipse">
            <a:avLst/>
          </a:prstGeom>
          <a:solidFill>
            <a:srgbClr val="B4BE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8610600" y="19050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28C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86106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语音子系统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ESP32-S3 + 离线 TTS</a:t>
            </a:r>
            <a:endParaRPr lang="en-US" sz="1000" b="0" i="0" u="none" strike="noStrike">
              <a:solidFill>
                <a:srgbClr val="646E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828C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待启动</a:t>
            </a:r>
            <a:endParaRPr lang="en-US" sz="1000" b="0" i="0" u="none" strike="noStrike">
              <a:solidFill>
                <a:srgbClr val="828C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820400" y="2438400"/>
            <a:ext cx="203200" cy="203200"/>
          </a:xfrm>
          <a:prstGeom prst="ellipse">
            <a:avLst/>
          </a:prstGeom>
          <a:solidFill>
            <a:srgbClr val="B4BE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10223500" y="19050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28C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M6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10223500" y="2794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整机集成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外壳 / 支架 / 续航优化</a:t>
            </a:r>
            <a:endParaRPr lang="en-US" sz="1000" b="0" i="0" u="none" strike="noStrike">
              <a:solidFill>
                <a:srgbClr val="646E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828C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规划中</a:t>
            </a:r>
            <a:endParaRPr lang="en-US" sz="1000" b="0" i="0" u="none" strike="noStrike">
              <a:solidFill>
                <a:srgbClr val="828C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4297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 txBox="1"/>
          <p:nvPr/>
        </p:nvSpPr>
        <p:spPr>
          <a:xfrm>
            <a:off x="1016000" y="444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已交付成果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1016000" y="4953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可独立运行的 Windows 桌面应用（PyInstaller 打包）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完整的分层架构与 DI 组合根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 txBox="1"/>
          <p:nvPr/>
        </p:nvSpPr>
        <p:spPr>
          <a:xfrm>
            <a:off x="6350000" y="4953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88 项单元测试 + mypy strict 零错误 + 3 条架构契约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硬件选型完成：BOM 清单 + 架构图 + 接口定义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· DEMO SCRIPT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分钟演示脚本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4881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841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演示动线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3495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460500" y="2349500"/>
            <a:ext cx="565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导入一张课本照片 → 展示 8 种视觉模式快速切换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7940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460500" y="2794000"/>
            <a:ext cx="565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 F 冻结 → 鼠标框选一段文字，按 R 识别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32385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460500" y="3238500"/>
            <a:ext cx="565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自动切换大字阅读版 → 展示可调字号、行距、翻段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36830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460500" y="3683000"/>
            <a:ext cx="565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 O 回查原图 → 高亮当前段位置，核对 OCR 结果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" y="41275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460500" y="4127500"/>
            <a:ext cx="565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展示"未核对"标注 → 强调可信设计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016000" y="45720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460500" y="4572000"/>
            <a:ext cx="565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拔掉网线 → 证明纯离线运行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016000" y="50165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460500" y="5016500"/>
            <a:ext cx="565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展示硬件 BOM → 香橙派 + CSI + ESP32-S3，总成本 ¥200 以内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66000" y="2286000"/>
            <a:ext cx="3810000" cy="3048000"/>
          </a:xfrm>
          <a:prstGeom prst="roundRect">
            <a:avLst>
              <a:gd name="adj" fmla="val 0"/>
            </a:avLst>
          </a:prstGeom>
          <a:solidFill>
            <a:srgbClr val="1E6F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7683500" y="266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关键话术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7683500" y="32385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"这不是滤镜，这是让低视力学生能独立读完一段课本的闭环。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 上跑通的每一行代码，都能原样迁移到 ¥100 的香橙派上。"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935" y="0"/>
            <a:ext cx="4076700" cy="305625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508000"/>
            <a:ext cx="6939280" cy="5203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· TEAM &amp; NEXT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8255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团队与下一步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1016079" y="1454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90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6F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413000"/>
            <a:ext cx="304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83000"/>
              </a:lnSpc>
              <a:defRPr/>
            </a:pPr>
            <a:r>
              <a:rPr lang="en-US" sz="12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 / 需求</a:t>
            </a:r>
            <a:endParaRPr lang="en-US" sz="1100"/>
          </a:p>
          <a:p>
            <a:pPr marL="0" indent="0" algn="l">
              <a:lnSpc>
                <a:spcPct val="183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白化病低视力学习场景深度调研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</a:t>
            </a:r>
            <a:endParaRPr lang="en-US" sz="1200" b="1" i="0" u="none" strike="noStrike">
              <a:solidFill>
                <a:srgbClr val="1E28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/ PySide6 / OpenCV / ONNX 全栈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</a:t>
            </a:r>
            <a:endParaRPr lang="en-US" sz="1200" b="1" i="0" u="none" strike="noStrike">
              <a:solidFill>
                <a:srgbClr val="1E28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 Linux / ESP32 语音 / CSI 相机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1" i="0" u="none" strike="noStrike">
                <a:solidFill>
                  <a:srgbClr val="1E28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endParaRPr lang="en-US" sz="1200" b="1" i="0" u="none" strike="noStrike">
              <a:solidFill>
                <a:srgbClr val="1E28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固定测试集 + 自动化契约守护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4572000" y="19050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277">
            <a:off x="4572011" y="3422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4572000" y="3619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CSI 摄像头接入、ESP32-S3 语音联调、整机外壳原型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2277">
            <a:off x="4572011" y="46291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4572000" y="4826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D488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近眼显示适配、遮光罩 / 支架设计、真实用户试用迭代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8636000" y="19050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开源与开放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636000" y="2413000"/>
            <a:ext cx="254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代码：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MIT 开源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模型：PP-OCRv4 ONNX（Apache-2.0）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硬件：BOM 清单 + 接线图 + 外壳图纸全开源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架构文档与 PRD 完整可复现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1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目标：让低视力学生用 ¥200 的终端，独立读完一段课本。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D55">
                <a:alpha val="100000"/>
              </a:srgbClr>
            </a:gs>
            <a:gs pos="100000">
              <a:srgbClr val="19509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524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5A62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968500"/>
            <a:ext cx="609600" cy="38100"/>
          </a:xfrm>
          <a:prstGeom prst="roundRect">
            <a:avLst>
              <a:gd name="adj" fmla="val 0"/>
            </a:avLst>
          </a:prstGeom>
          <a:solidFill>
            <a:srgbClr val="F5A62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Albassist-</a:t>
            </a:r>
            <a:r>
              <a:rPr lang="zh-CN" altLang="en-US" sz="5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罕见</a:t>
            </a:r>
            <a:r>
              <a:rPr lang="en-US" altLang="zh-CN" sz="5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5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无界</a:t>
            </a:r>
            <a:endParaRPr lang="zh-CN" altLang="en-US" sz="5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016000" y="3810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2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让低视力学生，用 ¥200 的终端，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2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独立读完一段课本。</a:t>
            </a:r>
            <a:endParaRPr lang="en-US" sz="2200" b="1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1016000" y="565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 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MIT 开源 · 硬件 BOM 全开放 · 欢迎交流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366000" y="565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助视学习终端 · 路演版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4250</Words>
  <Application>WPS 演示</Application>
  <PresentationFormat/>
  <Paragraphs>526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Roboto Mono</vt:lpstr>
      <vt:lpstr>Roboto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霜风</cp:lastModifiedBy>
  <cp:revision>3</cp:revision>
  <dcterms:created xsi:type="dcterms:W3CDTF">2026-10-16T11:07:00Z</dcterms:created>
  <dcterms:modified xsi:type="dcterms:W3CDTF">2026-10-19T05:30:23Z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{"Label":"1","ContentProducer":"001191110102MACQD9K64010000","ProduceID":"7697218490314460398","ReservedCode1":"","ContentPropagator":"","PropagateID":"","ReservedCode2":""}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79646A31B70A48BC851A01A24B42CD69_12</vt:lpwstr>
  </property>
</Properties>
</file>